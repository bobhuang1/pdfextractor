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3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Ada Lovelace" initials="AL" lastIdx="2" clrIdx="0"/>
  <p:cmAuthor id="1" name="Grace Hopper" initials="GH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CommentAuthors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Units by region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98</c:v>
                </c:pt>
                <c:pt idx="2">
                  <c:v>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145</c:v>
                </c:pt>
                <c:pt idx="1">
                  <c:v>121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10-18T09:15:00.000" idx="1">
    <p:pos x="10" y="10"/>
    <p:text>Check the Q3 numbers against the ledger.</p:text>
  </p:cm>
  <p:cm authorId="1" dt="2026-10-18T10:30:00.000" idx="2">
    <p:pos x="10" y="10"/>
    <p:text>Add the regional split to slide 2.</p:text>
  </p:cm>
</p:cmLst>
</file>

<file path=ppt/comments/comment3.xml><?xml version="1.0" encoding="utf-8"?>
<p:cmLst xmlns:p="http://schemas.openxmlformats.org/presentationml/2006/main">
  <p:cm authorId="1" dt="2026-10-18T16:05:00.000" idx="1">
    <p:pos x="10" y="10"/>
    <p:text>Ship this one.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revenue line, then the regions.</a:t>
            </a:r>
          </a:p>
          <a:p>
            <a:r>
              <a:t>The board asked for the unit numbers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picture is the growth by quarter; do not read the table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omments1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.xml"/><Relationship Id="rIdComments3" Type="http://schemas.openxmlformats.org/officeDocument/2006/relationships/comments" Target="../comments/commen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across every region.</a:t>
            </a:r>
          </a:p>
          <a:p>
            <a:r>
              <a:t>North America led with 145 units.</a:t>
            </a:r>
          </a:p>
          <a:p>
            <a:pPr lvl="1"/>
            <a:r>
              <a:t>Europe followed at 121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Prepared for the board.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4864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121</a:t>
                      </a:r>
                    </a:p>
                  </a:txBody>
                  <a:tcPr/>
                </a:tc>
              </a:tr>
              <a:tr h="548640">
                <a:tc gridSpan="2">
                  <a:txBody>
                    <a:bodyPr/>
                    <a:lstStyle/>
                    <a:p>
                      <a:r>
                        <a:t>Total</a:t>
                      </a:r>
                    </a:p>
                    <a:p>
                      <a:r>
                        <a:t>218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6400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buAutoNum type="arabicPeriod"/>
            </a:pPr>
            <a:r>
              <a:t>Open the dashboard.</a:t>
            </a:r>
          </a:p>
          <a:p>
            <a:pPr lvl="0">
              <a:buAutoNum type="arabicPeriod"/>
            </a:pPr>
            <a:r>
              <a:t>Filter by region.</a:t>
            </a:r>
          </a:p>
          <a:p>
            <a:pPr lvl="0">
              <a:buAutoNum type="arabicPeriod"/>
            </a:pPr>
            <a:r>
              <a:t>Export the 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growth came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2000"/>
              <a:t>Revenue grew </a:t>
            </a:r>
            <a:r>
              <a:rPr b="1" i="0" sz="2000"/>
              <a:t>12%</a:t>
            </a:r>
            <a:r>
              <a:rPr b="0" i="0" sz="2000"/>
              <a:t> year over year</a:t>
            </a:r>
            <a:r>
              <a:rPr b="0" i="1" sz="2000"/>
              <a:t> (constant currency)</a:t>
            </a:r>
          </a:p>
        </p:txBody>
      </p:sp>
      <p:pic>
        <p:nvPicPr>
          <p:cNvPr id="4" name="Picture 3" descr="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63040"/>
            <a:ext cx="2194560" cy="109728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3108960"/>
          <a:ext cx="731520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